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2" r:id="rId5"/>
    <p:sldId id="263" r:id="rId6"/>
    <p:sldId id="266" r:id="rId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A942E3-6797-4761-93C5-F8F8F6D23DBF}" type="datetimeFigureOut">
              <a:rPr lang="es-CO" smtClean="0"/>
              <a:t>31/03/2026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A8FDA7-BE31-4093-9ED2-37C316DF8D6C}" type="slidenum">
              <a:rPr lang="es-CO" smtClean="0"/>
              <a:t>‹Nº›</a:t>
            </a:fld>
            <a:endParaRPr lang="es-CO"/>
          </a:p>
        </p:txBody>
      </p:sp>
    </p:spTree>
    <p:extLst>
      <p:ext uri="{BB962C8B-B14F-4D97-AF65-F5344CB8AC3E}">
        <p14:creationId xmlns:p14="http://schemas.microsoft.com/office/powerpoint/2010/main" val="4209412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85A8FDA7-BE31-4093-9ED2-37C316DF8D6C}" type="slidenum">
              <a:rPr lang="es-CO" smtClean="0"/>
              <a:t>1</a:t>
            </a:fld>
            <a:endParaRPr lang="es-CO"/>
          </a:p>
        </p:txBody>
      </p:sp>
    </p:spTree>
    <p:extLst>
      <p:ext uri="{BB962C8B-B14F-4D97-AF65-F5344CB8AC3E}">
        <p14:creationId xmlns:p14="http://schemas.microsoft.com/office/powerpoint/2010/main" val="1106205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B58CF-4F56-21FA-C14F-FB47CBA563D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42145E6B-278F-68F9-A4D4-8EE1D50E66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205EF1F-3C1D-B546-5375-54C95D64F769}"/>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80B69C09-96FC-DC83-EC6A-8570FE20CC8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165B620-E980-D4C4-E1C0-77C118F0F6FD}"/>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4240473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6BB3-8B6D-B94F-A4A1-A4466EC4DF8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9891D1F-E01F-20C7-2555-C4B6042D54B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231E9F6-B137-C101-678A-3FD71823A5E9}"/>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AD42D3B3-F4F1-554B-6C3B-EA96403EC2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5E2F097-4F35-47AF-90B7-BCBC29709D35}"/>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1309803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383D6-BC66-1657-F30D-93FB2768A9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6439745-91A1-5CEC-9A9E-4441C38EB5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D151390-3D39-E911-024C-5D391976BC40}"/>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FA636976-67DE-132E-DDFB-26510EC6B57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EFA44E8-7D2A-7335-207B-2D0F8C6E1E3B}"/>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1084708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7CBC45-2177-01A3-DADF-2BF2D04ABDD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B9B6158-029D-B5F6-D03B-D8F80F196FD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C4B5D6E-04C5-B9A7-AFD2-C2FFC1D2BCE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DEE72A4-C09D-5793-622F-54FB6F859C2F}"/>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6" name="Marcador de pie de página 5">
            <a:extLst>
              <a:ext uri="{FF2B5EF4-FFF2-40B4-BE49-F238E27FC236}">
                <a16:creationId xmlns:a16="http://schemas.microsoft.com/office/drawing/2014/main" id="{833BBFB5-EFB6-03DC-8299-488592E9F24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9A33F8A-5469-3F76-D109-705CEA909844}"/>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77340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43949-C220-ADAB-59F9-C888BD8E251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EADE5B4-9DAE-35A8-1FA5-CFED61DFDF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0DD4FC6-F0F0-2C4B-4E37-8CB17A98493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7162FE0-635B-9DEE-E404-AD98DD39C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FDF369A-591B-1D02-AF74-6D95B867B4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946A3A6B-B4BC-C2E0-52BB-DE224854F58B}"/>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8" name="Marcador de pie de página 7">
            <a:extLst>
              <a:ext uri="{FF2B5EF4-FFF2-40B4-BE49-F238E27FC236}">
                <a16:creationId xmlns:a16="http://schemas.microsoft.com/office/drawing/2014/main" id="{79F9E0AA-D03A-6EED-FFA1-E31CF7D6E35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7E7AC12A-DD01-F12A-9498-4DB5E9D2DB51}"/>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040143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9157C7-C00C-2D07-2BD6-C41E5D24867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14B647D-3EFF-05DA-745D-2F5A3EED116E}"/>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4" name="Marcador de pie de página 3">
            <a:extLst>
              <a:ext uri="{FF2B5EF4-FFF2-40B4-BE49-F238E27FC236}">
                <a16:creationId xmlns:a16="http://schemas.microsoft.com/office/drawing/2014/main" id="{E3EBD0A4-0E0C-6880-D305-6BFAC6E10A1C}"/>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7A0E0CA-0AC9-BC88-EDE9-689B1F5189E8}"/>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11035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30710B0-0C32-1FA1-2E75-78EF470EA395}"/>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3" name="Marcador de pie de página 2">
            <a:extLst>
              <a:ext uri="{FF2B5EF4-FFF2-40B4-BE49-F238E27FC236}">
                <a16:creationId xmlns:a16="http://schemas.microsoft.com/office/drawing/2014/main" id="{5E36669F-03E5-2E9D-883E-9CD7495AEC86}"/>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481EE3E-6425-1840-4175-791FA9410B80}"/>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373127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20A04A-8731-6FC3-34FE-EC6E955A85B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7A72A7-75E2-2D21-B4E0-C4F4962FE8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E41C3402-0EA7-B8D7-9FDA-06961988C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AAD152-7476-4C8F-B19C-BA94A6680F74}"/>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6" name="Marcador de pie de página 5">
            <a:extLst>
              <a:ext uri="{FF2B5EF4-FFF2-40B4-BE49-F238E27FC236}">
                <a16:creationId xmlns:a16="http://schemas.microsoft.com/office/drawing/2014/main" id="{56F33EAF-27C7-13A1-4F6B-0EC49BD30E2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32B46CE-A747-ED43-F5EE-716A46688E29}"/>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93699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E2BA72-FD6D-EFC4-9CA2-F03105AF37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ED0F69C9-8A15-3158-3B5A-41B62016C2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31E9AFC-E526-AA6E-99AD-9D8F761CF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B3C6A82-ED24-F5AE-680E-35EC82D02C76}"/>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6" name="Marcador de pie de página 5">
            <a:extLst>
              <a:ext uri="{FF2B5EF4-FFF2-40B4-BE49-F238E27FC236}">
                <a16:creationId xmlns:a16="http://schemas.microsoft.com/office/drawing/2014/main" id="{C1BF8BC4-F8CA-5CD6-0112-D8A1106765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C39A436-BFBC-8FE7-688B-8C484B2D7E90}"/>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384268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543590-B743-5993-8EB5-4B5513C777D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5FA43AC-062D-9E34-F3A6-4D42BE2D1E4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464A4EE-7804-E9A3-8BD1-AC98CC09C0A4}"/>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D1A9BCED-8E3A-98FD-7D0A-E359801E116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2FA06A6-F76F-6DC8-500A-993D97ED26FF}"/>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093228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C3843E7-8F1F-C5DE-3CDC-F9C3C02FBC0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1AA8B9E-B29C-C4FC-C91F-24AE4819A24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F2C2CC9-7830-7008-FD0F-DDBFA213CF45}"/>
              </a:ext>
            </a:extLst>
          </p:cNvPr>
          <p:cNvSpPr>
            <a:spLocks noGrp="1"/>
          </p:cNvSpPr>
          <p:nvPr>
            <p:ph type="dt" sz="half" idx="10"/>
          </p:nvPr>
        </p:nvSpPr>
        <p:spPr/>
        <p:txBody>
          <a:body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201AC423-654C-36F2-462E-CF9B16DD726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0170C49-5D7E-11F5-0C13-32B1BE1B2148}"/>
              </a:ext>
            </a:extLst>
          </p:cNvPr>
          <p:cNvSpPr>
            <a:spLocks noGrp="1"/>
          </p:cNvSpPr>
          <p:nvPr>
            <p:ph type="sldNum" sz="quarter" idx="12"/>
          </p:nvPr>
        </p:nvSpPr>
        <p:spPr/>
        <p:txBody>
          <a:bodyPr/>
          <a:lstStyle/>
          <a:p>
            <a:fld id="{7B019E48-0007-41B6-9BBE-22A260B1367C}" type="slidenum">
              <a:rPr lang="es-CO" smtClean="0"/>
              <a:t>‹Nº›</a:t>
            </a:fld>
            <a:endParaRPr lang="es-CO"/>
          </a:p>
        </p:txBody>
      </p:sp>
    </p:spTree>
    <p:extLst>
      <p:ext uri="{BB962C8B-B14F-4D97-AF65-F5344CB8AC3E}">
        <p14:creationId xmlns:p14="http://schemas.microsoft.com/office/powerpoint/2010/main" val="226627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C936362-95A2-F21A-DD23-445D62EA2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F6973F4-EBB3-CA16-DE60-21D51A4704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5F333B2-5D2D-4947-A397-7DE594D8E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F24E59-F011-4D6B-AAA8-F9C1CE8A6578}" type="datetimeFigureOut">
              <a:rPr lang="es-CO" smtClean="0"/>
              <a:t>31/03/2026</a:t>
            </a:fld>
            <a:endParaRPr lang="es-CO"/>
          </a:p>
        </p:txBody>
      </p:sp>
      <p:sp>
        <p:nvSpPr>
          <p:cNvPr id="5" name="Marcador de pie de página 4">
            <a:extLst>
              <a:ext uri="{FF2B5EF4-FFF2-40B4-BE49-F238E27FC236}">
                <a16:creationId xmlns:a16="http://schemas.microsoft.com/office/drawing/2014/main" id="{D1FDB4D0-5B9B-5F33-CA33-FE64168395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5B745DAF-78E4-E3E4-07CB-C1D36538E7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019E48-0007-41B6-9BBE-22A260B1367C}" type="slidenum">
              <a:rPr lang="es-CO" smtClean="0"/>
              <a:t>‹Nº›</a:t>
            </a:fld>
            <a:endParaRPr lang="es-CO"/>
          </a:p>
        </p:txBody>
      </p:sp>
    </p:spTree>
    <p:extLst>
      <p:ext uri="{BB962C8B-B14F-4D97-AF65-F5344CB8AC3E}">
        <p14:creationId xmlns:p14="http://schemas.microsoft.com/office/powerpoint/2010/main" val="194358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1965B91-5CF3-414F-4DDB-6694265F8C6D}"/>
              </a:ext>
            </a:extLst>
          </p:cNvPr>
          <p:cNvSpPr>
            <a:spLocks noGrp="1"/>
          </p:cNvSpPr>
          <p:nvPr>
            <p:ph type="title"/>
          </p:nvPr>
        </p:nvSpPr>
        <p:spPr>
          <a:xfrm>
            <a:off x="826396" y="586855"/>
            <a:ext cx="4230100" cy="3387497"/>
          </a:xfrm>
        </p:spPr>
        <p:txBody>
          <a:bodyPr anchor="b">
            <a:normAutofit/>
          </a:bodyPr>
          <a:lstStyle/>
          <a:p>
            <a:pPr algn="r"/>
            <a:r>
              <a:rPr lang="en-US" sz="3400">
                <a:solidFill>
                  <a:srgbClr val="FFFFFF"/>
                </a:solidFill>
              </a:rPr>
              <a:t>                                                                                                                               Video presentation on the latest advances in the subject</a:t>
            </a:r>
            <a:br>
              <a:rPr lang="en-US" sz="3400">
                <a:solidFill>
                  <a:srgbClr val="FFFFFF"/>
                </a:solidFill>
              </a:rPr>
            </a:br>
            <a:br>
              <a:rPr lang="en-US" sz="3400">
                <a:solidFill>
                  <a:srgbClr val="FFFFFF"/>
                </a:solidFill>
              </a:rPr>
            </a:br>
            <a:endParaRPr lang="es-CO" sz="3400">
              <a:solidFill>
                <a:srgbClr val="FFFFFF"/>
              </a:solidFill>
            </a:endParaRPr>
          </a:p>
        </p:txBody>
      </p:sp>
      <p:sp>
        <p:nvSpPr>
          <p:cNvPr id="3" name="Marcador de contenido 2">
            <a:extLst>
              <a:ext uri="{FF2B5EF4-FFF2-40B4-BE49-F238E27FC236}">
                <a16:creationId xmlns:a16="http://schemas.microsoft.com/office/drawing/2014/main" id="{0E789316-AB97-F7C3-F132-C8529D3D0E01}"/>
              </a:ext>
            </a:extLst>
          </p:cNvPr>
          <p:cNvSpPr>
            <a:spLocks noGrp="1"/>
          </p:cNvSpPr>
          <p:nvPr>
            <p:ph idx="1"/>
          </p:nvPr>
        </p:nvSpPr>
        <p:spPr>
          <a:xfrm>
            <a:off x="6503158" y="649480"/>
            <a:ext cx="4862447" cy="5546047"/>
          </a:xfrm>
        </p:spPr>
        <p:txBody>
          <a:bodyPr anchor="ctr">
            <a:normAutofit/>
          </a:bodyPr>
          <a:lstStyle/>
          <a:p>
            <a:r>
              <a:rPr lang="es-CO" sz="2000" dirty="0" err="1"/>
              <a:t>name:Juan</a:t>
            </a:r>
            <a:r>
              <a:rPr lang="es-CO" sz="2000" dirty="0"/>
              <a:t> David Otalora Rubiano</a:t>
            </a:r>
          </a:p>
          <a:p>
            <a:pPr marL="0" indent="0">
              <a:buNone/>
            </a:pPr>
            <a:r>
              <a:rPr lang="es-CO" sz="2000" dirty="0"/>
              <a:t>English 2 </a:t>
            </a:r>
            <a:r>
              <a:rPr lang="es-CO" sz="2000" dirty="0" err="1"/>
              <a:t>work</a:t>
            </a:r>
            <a:endParaRPr lang="es-CO" sz="2000" dirty="0"/>
          </a:p>
          <a:p>
            <a:pPr marL="0" indent="0">
              <a:buNone/>
            </a:pPr>
            <a:r>
              <a:rPr lang="es-CO" sz="2000" dirty="0"/>
              <a:t>AA3-EVO1</a:t>
            </a:r>
          </a:p>
          <a:p>
            <a:pPr marL="0" indent="0">
              <a:buNone/>
            </a:pPr>
            <a:r>
              <a:rPr lang="en-US" sz="2000" dirty="0"/>
              <a:t>Hello, my name is Juan, and today I will talk about the latest advances in education, science, and technology in Colombia.</a:t>
            </a:r>
            <a:br>
              <a:rPr lang="en-US" sz="2000" dirty="0"/>
            </a:br>
            <a:r>
              <a:rPr lang="en-US" sz="2000" dirty="0"/>
              <a:t>These areas are very important because they help improve people's quality of life and the development of the country.</a:t>
            </a:r>
            <a:endParaRPr lang="es-CO" sz="2000" dirty="0"/>
          </a:p>
        </p:txBody>
      </p:sp>
    </p:spTree>
    <p:extLst>
      <p:ext uri="{BB962C8B-B14F-4D97-AF65-F5344CB8AC3E}">
        <p14:creationId xmlns:p14="http://schemas.microsoft.com/office/powerpoint/2010/main" val="81670814"/>
      </p:ext>
    </p:extLst>
  </p:cSld>
  <p:clrMapOvr>
    <a:masterClrMapping/>
  </p:clrMapOvr>
  <mc:AlternateContent xmlns:mc="http://schemas.openxmlformats.org/markup-compatibility/2006">
    <mc:Choice xmlns:p14="http://schemas.microsoft.com/office/powerpoint/2010/main" Requires="p14">
      <p:transition spd="slow" p14:dur="2000" advTm="4714"/>
    </mc:Choice>
    <mc:Fallback>
      <p:transition spd="slow" advTm="47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5CFA109-ACE6-6D13-0FFE-427FE64A2A2C}"/>
              </a:ext>
            </a:extLst>
          </p:cNvPr>
          <p:cNvSpPr>
            <a:spLocks noGrp="1"/>
          </p:cNvSpPr>
          <p:nvPr>
            <p:ph type="title"/>
          </p:nvPr>
        </p:nvSpPr>
        <p:spPr>
          <a:xfrm>
            <a:off x="1021876" y="2720645"/>
            <a:ext cx="4747280" cy="3098061"/>
          </a:xfrm>
        </p:spPr>
        <p:txBody>
          <a:bodyPr vert="horz" lIns="91440" tIns="45720" rIns="91440" bIns="45720" rtlCol="0" anchor="b">
            <a:noAutofit/>
          </a:bodyPr>
          <a:lstStyle/>
          <a:p>
            <a:r>
              <a:rPr lang="en-US" sz="2000" kern="1200" dirty="0">
                <a:solidFill>
                  <a:srgbClr val="FFFFFF"/>
                </a:solidFill>
                <a:latin typeface="+mj-lt"/>
                <a:ea typeface="+mj-ea"/>
                <a:cs typeface="+mj-cs"/>
              </a:rPr>
              <a:t>In recent years, Colombia has made important progress in education.</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The government has invested a lot of money in improving schools and access to education.</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According to the Ministry of Education, more than 64,000 students have benefited from new infrastructure projects, especially in rural areas. </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Also, the government has invested over 567 billion pesos to improve learning and provide better opportunities for children and young people. </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In addition, new programs promote environmental education and inclusion for different communities.</a:t>
            </a:r>
            <a:br>
              <a:rPr lang="en-US" sz="2000" kern="1200" dirty="0">
                <a:solidFill>
                  <a:srgbClr val="FFFFFF"/>
                </a:solidFill>
                <a:latin typeface="+mj-lt"/>
                <a:ea typeface="+mj-ea"/>
                <a:cs typeface="+mj-cs"/>
              </a:rPr>
            </a:br>
            <a:endParaRPr lang="en-US" sz="2000" kern="1200" dirty="0">
              <a:solidFill>
                <a:srgbClr val="FFFFFF"/>
              </a:solidFill>
              <a:latin typeface="+mj-lt"/>
              <a:ea typeface="+mj-ea"/>
              <a:cs typeface="+mj-cs"/>
            </a:endParaRPr>
          </a:p>
        </p:txBody>
      </p:sp>
      <p:sp>
        <p:nvSpPr>
          <p:cNvPr id="16" name="Rectangle 15">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18AF5139-03D1-B8B1-FA38-3715CEF26DC4}"/>
              </a:ext>
            </a:extLst>
          </p:cNvPr>
          <p:cNvPicPr>
            <a:picLocks noChangeAspect="1"/>
          </p:cNvPicPr>
          <p:nvPr/>
        </p:nvPicPr>
        <p:blipFill>
          <a:blip r:embed="rId2"/>
          <a:srcRect r="65991" b="47573"/>
          <a:stretch>
            <a:fillRect/>
          </a:stretch>
        </p:blipFill>
        <p:spPr>
          <a:xfrm>
            <a:off x="7499272" y="2108877"/>
            <a:ext cx="2579737" cy="2654533"/>
          </a:xfrm>
          <a:prstGeom prst="rect">
            <a:avLst/>
          </a:prstGeom>
        </p:spPr>
      </p:pic>
    </p:spTree>
    <p:extLst>
      <p:ext uri="{BB962C8B-B14F-4D97-AF65-F5344CB8AC3E}">
        <p14:creationId xmlns:p14="http://schemas.microsoft.com/office/powerpoint/2010/main" val="283570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C296324-C8AE-7876-E790-58F3D25613C6}"/>
              </a:ext>
            </a:extLst>
          </p:cNvPr>
          <p:cNvSpPr>
            <a:spLocks noGrp="1"/>
          </p:cNvSpPr>
          <p:nvPr>
            <p:ph type="title"/>
          </p:nvPr>
        </p:nvSpPr>
        <p:spPr>
          <a:xfrm>
            <a:off x="1021876" y="1987072"/>
            <a:ext cx="4747280" cy="3098061"/>
          </a:xfrm>
        </p:spPr>
        <p:txBody>
          <a:bodyPr vert="horz" lIns="91440" tIns="45720" rIns="91440" bIns="45720" rtlCol="0" anchor="b">
            <a:noAutofit/>
          </a:bodyPr>
          <a:lstStyle/>
          <a:p>
            <a:r>
              <a:rPr lang="en-US" sz="2000" kern="1200" dirty="0">
                <a:solidFill>
                  <a:srgbClr val="FFFFFF"/>
                </a:solidFill>
                <a:latin typeface="+mj-lt"/>
                <a:ea typeface="+mj-ea"/>
                <a:cs typeface="+mj-cs"/>
              </a:rPr>
              <a:t>In science, Colombia is also growing.</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The Ministry of Science has created programs to develop skills in young people.</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For example, more than 5,800 students are learning about science, technology, and </a:t>
            </a:r>
            <a:r>
              <a:rPr lang="en-US" sz="2000" dirty="0">
                <a:solidFill>
                  <a:srgbClr val="FFFFFF"/>
                </a:solidFill>
              </a:rPr>
              <a:t> AI </a:t>
            </a:r>
            <a:r>
              <a:rPr lang="en-US" sz="2000" kern="1200" dirty="0">
                <a:solidFill>
                  <a:srgbClr val="FFFFFF"/>
                </a:solidFill>
                <a:latin typeface="+mj-lt"/>
                <a:ea typeface="+mj-ea"/>
                <a:cs typeface="+mj-cs"/>
              </a:rPr>
              <a:t>through special programs. </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Also, there are investments in research, innovation, and international education programs.</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The Minister of Science said that </a:t>
            </a:r>
            <a:r>
              <a:rPr lang="en-US" sz="2000" i="1" kern="1200" dirty="0">
                <a:solidFill>
                  <a:srgbClr val="FFFFFF"/>
                </a:solidFill>
                <a:latin typeface="+mj-lt"/>
                <a:ea typeface="+mj-ea"/>
                <a:cs typeface="+mj-cs"/>
              </a:rPr>
              <a:t>“this is a historic moment for science and technology in our country.”</a:t>
            </a:r>
            <a:r>
              <a:rPr lang="en-US" sz="2000" kern="1200" dirty="0">
                <a:solidFill>
                  <a:srgbClr val="FFFFFF"/>
                </a:solidFill>
                <a:latin typeface="+mj-lt"/>
                <a:ea typeface="+mj-ea"/>
                <a:cs typeface="+mj-cs"/>
              </a:rPr>
              <a:t> </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This shows that Colombia is trying to become a more innovative country.</a:t>
            </a:r>
            <a:br>
              <a:rPr lang="en-US" sz="2000" kern="1200" dirty="0">
                <a:solidFill>
                  <a:srgbClr val="FFFFFF"/>
                </a:solidFill>
                <a:latin typeface="+mj-lt"/>
                <a:ea typeface="+mj-ea"/>
                <a:cs typeface="+mj-cs"/>
              </a:rPr>
            </a:br>
            <a:endParaRPr lang="en-US" sz="2000" kern="1200" dirty="0">
              <a:solidFill>
                <a:srgbClr val="FFFFFF"/>
              </a:solidFill>
              <a:latin typeface="+mj-lt"/>
              <a:ea typeface="+mj-ea"/>
              <a:cs typeface="+mj-cs"/>
            </a:endParaRPr>
          </a:p>
        </p:txBody>
      </p:sp>
      <p:sp>
        <p:nvSpPr>
          <p:cNvPr id="17" name="Rectangle 16">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64323C1E-9528-00E5-B147-2F5AAC320657}"/>
              </a:ext>
            </a:extLst>
          </p:cNvPr>
          <p:cNvPicPr>
            <a:picLocks noChangeAspect="1"/>
          </p:cNvPicPr>
          <p:nvPr/>
        </p:nvPicPr>
        <p:blipFill>
          <a:blip r:embed="rId2"/>
          <a:srcRect l="33004" r="32894" b="49296"/>
          <a:stretch>
            <a:fillRect/>
          </a:stretch>
        </p:blipFill>
        <p:spPr>
          <a:xfrm>
            <a:off x="7451793" y="2108877"/>
            <a:ext cx="2674696" cy="2654533"/>
          </a:xfrm>
          <a:prstGeom prst="rect">
            <a:avLst/>
          </a:prstGeom>
        </p:spPr>
      </p:pic>
    </p:spTree>
    <p:extLst>
      <p:ext uri="{BB962C8B-B14F-4D97-AF65-F5344CB8AC3E}">
        <p14:creationId xmlns:p14="http://schemas.microsoft.com/office/powerpoint/2010/main" val="3114577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2176EAF-777C-DE53-E948-F7CA1F03494A}"/>
              </a:ext>
            </a:extLst>
          </p:cNvPr>
          <p:cNvSpPr>
            <a:spLocks noGrp="1"/>
          </p:cNvSpPr>
          <p:nvPr>
            <p:ph type="title"/>
          </p:nvPr>
        </p:nvSpPr>
        <p:spPr>
          <a:xfrm>
            <a:off x="1036877" y="1763239"/>
            <a:ext cx="4747280" cy="3098061"/>
          </a:xfrm>
        </p:spPr>
        <p:txBody>
          <a:bodyPr vert="horz" lIns="91440" tIns="45720" rIns="91440" bIns="45720" rtlCol="0" anchor="b">
            <a:noAutofit/>
          </a:bodyPr>
          <a:lstStyle/>
          <a:p>
            <a:r>
              <a:rPr lang="en-US" sz="2000" kern="1200" dirty="0">
                <a:solidFill>
                  <a:srgbClr val="FFFFFF"/>
                </a:solidFill>
                <a:latin typeface="+mj-lt"/>
                <a:ea typeface="+mj-ea"/>
                <a:cs typeface="+mj-cs"/>
              </a:rPr>
              <a:t>Technology has also improved a lot.</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The government invested money in internet access, digital education, and innovation.</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According to the Ministry of ICT, technology is reaching places where it wasn’t available before. </a:t>
            </a:r>
            <a:br>
              <a:rPr lang="en-US" sz="2000" kern="1200" dirty="0">
                <a:solidFill>
                  <a:srgbClr val="FFFFFF"/>
                </a:solidFill>
                <a:latin typeface="+mj-lt"/>
                <a:ea typeface="+mj-ea"/>
                <a:cs typeface="+mj-cs"/>
              </a:rPr>
            </a:br>
            <a:r>
              <a:rPr lang="en-US" sz="2000" kern="1200" dirty="0">
                <a:solidFill>
                  <a:srgbClr val="FFFFFF"/>
                </a:solidFill>
                <a:latin typeface="+mj-lt"/>
                <a:ea typeface="+mj-ea"/>
                <a:cs typeface="+mj-cs"/>
              </a:rPr>
              <a:t>This helps reduce inequality, especially in rural areas.</a:t>
            </a:r>
            <a:br>
              <a:rPr lang="en-US" sz="2000" kern="1200" dirty="0">
                <a:solidFill>
                  <a:srgbClr val="FFFFFF"/>
                </a:solidFill>
                <a:latin typeface="+mj-lt"/>
                <a:ea typeface="+mj-ea"/>
                <a:cs typeface="+mj-cs"/>
              </a:rPr>
            </a:br>
            <a:endParaRPr lang="en-US" sz="2000" kern="1200" dirty="0">
              <a:solidFill>
                <a:srgbClr val="FFFFFF"/>
              </a:solidFill>
              <a:latin typeface="+mj-lt"/>
              <a:ea typeface="+mj-ea"/>
              <a:cs typeface="+mj-cs"/>
            </a:endParaRPr>
          </a:p>
        </p:txBody>
      </p:sp>
      <p:sp>
        <p:nvSpPr>
          <p:cNvPr id="16" name="Rectangle 15">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AB7BE795-3BF7-6C99-6733-232CABE8ACBF}"/>
              </a:ext>
            </a:extLst>
          </p:cNvPr>
          <p:cNvPicPr>
            <a:picLocks noChangeAspect="1"/>
          </p:cNvPicPr>
          <p:nvPr/>
        </p:nvPicPr>
        <p:blipFill>
          <a:blip r:embed="rId2"/>
          <a:srcRect l="66139" b="49354"/>
          <a:stretch>
            <a:fillRect/>
          </a:stretch>
        </p:blipFill>
        <p:spPr>
          <a:xfrm>
            <a:off x="7459722" y="2108877"/>
            <a:ext cx="2658838" cy="2654533"/>
          </a:xfrm>
          <a:prstGeom prst="rect">
            <a:avLst/>
          </a:prstGeom>
        </p:spPr>
      </p:pic>
    </p:spTree>
    <p:extLst>
      <p:ext uri="{BB962C8B-B14F-4D97-AF65-F5344CB8AC3E}">
        <p14:creationId xmlns:p14="http://schemas.microsoft.com/office/powerpoint/2010/main" val="1220377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6D11CFB-6F75-F33D-FEF7-6E50ADEDF092}"/>
              </a:ext>
            </a:extLst>
          </p:cNvPr>
          <p:cNvSpPr>
            <a:spLocks noGrp="1"/>
          </p:cNvSpPr>
          <p:nvPr>
            <p:ph type="title"/>
          </p:nvPr>
        </p:nvSpPr>
        <p:spPr>
          <a:xfrm>
            <a:off x="1348720" y="2434740"/>
            <a:ext cx="4747280" cy="3098061"/>
          </a:xfrm>
        </p:spPr>
        <p:txBody>
          <a:bodyPr vert="horz" lIns="91440" tIns="45720" rIns="91440" bIns="45720" rtlCol="0" anchor="b">
            <a:noAutofit/>
          </a:bodyPr>
          <a:lstStyle/>
          <a:p>
            <a:r>
              <a:rPr lang="en-US" sz="2400" kern="1200" dirty="0">
                <a:solidFill>
                  <a:srgbClr val="FFFFFF"/>
                </a:solidFill>
                <a:latin typeface="+mj-lt"/>
                <a:ea typeface="+mj-ea"/>
                <a:cs typeface="+mj-cs"/>
              </a:rPr>
              <a:t>In my opinion, these advances are very positive because they help young people have better opportunities.</a:t>
            </a:r>
            <a:br>
              <a:rPr lang="en-US" sz="2400" kern="1200" dirty="0">
                <a:solidFill>
                  <a:srgbClr val="FFFFFF"/>
                </a:solidFill>
                <a:latin typeface="+mj-lt"/>
                <a:ea typeface="+mj-ea"/>
                <a:cs typeface="+mj-cs"/>
              </a:rPr>
            </a:br>
            <a:r>
              <a:rPr lang="en-US" sz="2400" kern="1200" dirty="0">
                <a:solidFill>
                  <a:srgbClr val="FFFFFF"/>
                </a:solidFill>
                <a:latin typeface="+mj-lt"/>
                <a:ea typeface="+mj-ea"/>
                <a:cs typeface="+mj-cs"/>
              </a:rPr>
              <a:t>However, there are still problems, especially in rural areas where access to education and technology is limited. </a:t>
            </a:r>
            <a:br>
              <a:rPr lang="en-US" sz="2400" kern="1200" dirty="0">
                <a:solidFill>
                  <a:srgbClr val="FFFFFF"/>
                </a:solidFill>
                <a:latin typeface="+mj-lt"/>
                <a:ea typeface="+mj-ea"/>
                <a:cs typeface="+mj-cs"/>
              </a:rPr>
            </a:br>
            <a:r>
              <a:rPr lang="en-US" sz="2400" kern="1200" dirty="0">
                <a:solidFill>
                  <a:srgbClr val="FFFFFF"/>
                </a:solidFill>
                <a:latin typeface="+mj-lt"/>
                <a:ea typeface="+mj-ea"/>
                <a:cs typeface="+mj-cs"/>
              </a:rPr>
              <a:t>I think the government should continue investing more and also listen to communities to improve these programs.</a:t>
            </a:r>
            <a:br>
              <a:rPr lang="en-US" sz="2400" kern="1200" dirty="0">
                <a:solidFill>
                  <a:srgbClr val="FFFFFF"/>
                </a:solidFill>
                <a:latin typeface="+mj-lt"/>
                <a:ea typeface="+mj-ea"/>
                <a:cs typeface="+mj-cs"/>
              </a:rPr>
            </a:br>
            <a:endParaRPr lang="en-US" sz="2400" kern="1200" dirty="0">
              <a:solidFill>
                <a:srgbClr val="FFFFFF"/>
              </a:solidFill>
              <a:latin typeface="+mj-lt"/>
              <a:ea typeface="+mj-ea"/>
              <a:cs typeface="+mj-cs"/>
            </a:endParaRPr>
          </a:p>
        </p:txBody>
      </p:sp>
      <p:sp>
        <p:nvSpPr>
          <p:cNvPr id="29" name="Rectangle 28">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699D3C5-F857-256C-0B32-6CB5965947EF}"/>
              </a:ext>
            </a:extLst>
          </p:cNvPr>
          <p:cNvPicPr>
            <a:picLocks noChangeAspect="1"/>
          </p:cNvPicPr>
          <p:nvPr/>
        </p:nvPicPr>
        <p:blipFill>
          <a:blip r:embed="rId2"/>
          <a:srcRect l="33556" t="49731" r="33274"/>
          <a:stretch>
            <a:fillRect/>
          </a:stretch>
        </p:blipFill>
        <p:spPr>
          <a:xfrm>
            <a:off x="7312610" y="2093406"/>
            <a:ext cx="2953062" cy="2668249"/>
          </a:xfrm>
          <a:prstGeom prst="rect">
            <a:avLst/>
          </a:prstGeom>
        </p:spPr>
      </p:pic>
    </p:spTree>
    <p:extLst>
      <p:ext uri="{BB962C8B-B14F-4D97-AF65-F5344CB8AC3E}">
        <p14:creationId xmlns:p14="http://schemas.microsoft.com/office/powerpoint/2010/main" val="759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CE72DDC-B476-774E-B08C-BD438CC9167F}"/>
              </a:ext>
            </a:extLst>
          </p:cNvPr>
          <p:cNvSpPr>
            <a:spLocks noGrp="1"/>
          </p:cNvSpPr>
          <p:nvPr>
            <p:ph type="title"/>
          </p:nvPr>
        </p:nvSpPr>
        <p:spPr>
          <a:xfrm>
            <a:off x="1127208" y="857251"/>
            <a:ext cx="4747280" cy="3098061"/>
          </a:xfrm>
        </p:spPr>
        <p:txBody>
          <a:bodyPr vert="horz" lIns="91440" tIns="45720" rIns="91440" bIns="45720" rtlCol="0" anchor="b">
            <a:normAutofit/>
          </a:bodyPr>
          <a:lstStyle/>
          <a:p>
            <a:r>
              <a:rPr lang="en-US" sz="2600" kern="1200" dirty="0">
                <a:solidFill>
                  <a:srgbClr val="FFFFFF"/>
                </a:solidFill>
                <a:latin typeface="+mj-lt"/>
                <a:ea typeface="+mj-ea"/>
                <a:cs typeface="+mj-cs"/>
              </a:rPr>
              <a:t>In conclusion, Colombia is making progress in education, science, and technology, but there is still work to do. These areas are key for the future, and with more effort, the country can achieve better development. Thank you for watching.</a:t>
            </a:r>
          </a:p>
        </p:txBody>
      </p:sp>
      <p:sp>
        <p:nvSpPr>
          <p:cNvPr id="16" name="Rectangle 15">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FB3C67AD-43AC-A68F-4D02-B9C0021CC98E}"/>
              </a:ext>
            </a:extLst>
          </p:cNvPr>
          <p:cNvPicPr>
            <a:picLocks noChangeAspect="1"/>
          </p:cNvPicPr>
          <p:nvPr/>
        </p:nvPicPr>
        <p:blipFill>
          <a:blip r:embed="rId2"/>
          <a:srcRect l="66515" t="50000"/>
          <a:stretch>
            <a:fillRect/>
          </a:stretch>
        </p:blipFill>
        <p:spPr>
          <a:xfrm>
            <a:off x="6920559" y="2188865"/>
            <a:ext cx="3737164" cy="2494556"/>
          </a:xfrm>
          <a:prstGeom prst="rect">
            <a:avLst/>
          </a:prstGeom>
        </p:spPr>
      </p:pic>
    </p:spTree>
    <p:extLst>
      <p:ext uri="{BB962C8B-B14F-4D97-AF65-F5344CB8AC3E}">
        <p14:creationId xmlns:p14="http://schemas.microsoft.com/office/powerpoint/2010/main" val="37711735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418</Words>
  <Application>Microsoft Office PowerPoint</Application>
  <PresentationFormat>Panorámica</PresentationFormat>
  <Paragraphs>11</Paragraphs>
  <Slides>6</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Aptos</vt:lpstr>
      <vt:lpstr>Aptos Display</vt:lpstr>
      <vt:lpstr>Arial</vt:lpstr>
      <vt:lpstr>Tema de Office</vt:lpstr>
      <vt:lpstr>                                                                                                                               Video presentation on the latest advances in the subject  </vt:lpstr>
      <vt:lpstr>In recent years, Colombia has made important progress in education. The government has invested a lot of money in improving schools and access to education. According to the Ministry of Education, more than 64,000 students have benefited from new infrastructure projects, especially in rural areas.  Also, the government has invested over 567 billion pesos to improve learning and provide better opportunities for children and young people.  In addition, new programs promote environmental education and inclusion for different communities. </vt:lpstr>
      <vt:lpstr>In science, Colombia is also growing. The Ministry of Science has created programs to develop skills in young people. For example, more than 5,800 students are learning about science, technology, and  AI through special programs.  Also, there are investments in research, innovation, and international education programs. The Minister of Science said that “this is a historic moment for science and technology in our country.”  This shows that Colombia is trying to become a more innovative country. </vt:lpstr>
      <vt:lpstr>Technology has also improved a lot. The government invested money in internet access, digital education, and innovation. According to the Ministry of ICT, technology is reaching places where it wasn’t available before.  This helps reduce inequality, especially in rural areas. </vt:lpstr>
      <vt:lpstr>In my opinion, these advances are very positive because they help young people have better opportunities. However, there are still problems, especially in rural areas where access to education and technology is limited.  I think the government should continue investing more and also listen to communities to improve these programs. </vt:lpstr>
      <vt:lpstr>In conclusion, Colombia is making progress in education, science, and technology, but there is still work to do. These areas are key for the future, and with more effort, the country can achieve better development. Thank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urtado</dc:creator>
  <cp:lastModifiedBy>cristian urtado</cp:lastModifiedBy>
  <cp:revision>1</cp:revision>
  <dcterms:created xsi:type="dcterms:W3CDTF">2026-03-31T19:41:46Z</dcterms:created>
  <dcterms:modified xsi:type="dcterms:W3CDTF">2026-03-31T21:17:08Z</dcterms:modified>
</cp:coreProperties>
</file>